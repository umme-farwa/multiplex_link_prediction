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196" autoAdjust="0"/>
  </p:normalViewPr>
  <p:slideViewPr>
    <p:cSldViewPr snapToGrid="0" snapToObjects="1">
      <p:cViewPr>
        <p:scale>
          <a:sx n="85" d="100"/>
          <a:sy n="85" d="100"/>
        </p:scale>
        <p:origin x="56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911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Assalam-o-alaikum. My thesis is on link prediction in multiplex networks using an attention-based graph neural network. I will walk you through what I did, from the dataset to my proposed model and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simple terms, I built a system that looks at two researchers and predicts whether they will collaborate. The data is multiplex: the same people connected across 13 research fields. The most valuable and hardest links are bridges - between people from different fields who have no common collaborators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problem is that old methods rely on shared neighbours. On bridges there are none, so they are basically guessing. They also treat each field separately. So I needed a model that can handle bridges, combine all layers, and still be understandable.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 used the arXiv Netscience multiplex dataset - 13 research domains, about 14 thousand researchers. The same person appears in every layer. The challenge was that it has no node attributes, so I had to create the features myself.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Because the dataset had no features, I engineered six structural features from the graph itself - degree, pagerank, clustering, k-core, betweenness, and eigenvector centrality. These describe each researcher's position in the network. Importantly, I gave the same six features to every model, so any difference in results comes from the model, not from better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For each layer I split the links into train, validation, and test. I also created fake links as negative examples. Everything was leakage-free - I used only training data to build the graph, and tuned thresholds on validation, never on the test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Now the baselines. I did not build these only to compare - each one taught me something that shaped my final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classical methods score pairs by shared neighbours. They are deterministic - one run. They reached about 0.87 ROC-AUC on ordinary links, but I found their key weakness: on bridges they are exactly 0.5, random. This insight motivated my whole 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Node2Vec learns embeddings from random walks, then a classifier predicts links. I ran it with 5 seeds. It reached 0.849 ROC-AUC and was strong on PR-AUC and F1. But it ignores the node features, isn't trained directly for link prediction, and treats each layer separately.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Then the graph neural networks. GCN combines neighbours equally; GAT uses attention to weight them. Both got the same six features and were run with 5 seeds. GAT was my strongest baseline at 0.822. But even GAT processes each layer alone and has no explicit sense of bridges.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chart shows all the baselines. The pattern is clear. Each one taught me a lesson: classical fail on bridges, Node2Vec ignores features and layers, GCN treats neighbours equally, GAT has attention but is single-layer. Together these told me exactly what my model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Based on those lessons, I designed my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My model has three parts. First, a weak-tie-aware GAT encoder for each layer - the novel part is that I inject a weak-tie score into the attention, so it focuses on bridges. Second, a cross-layer attention that combines all 13 domains and learns which matter most - this makes it interpretable. Third, a fusion gate that blends local and global information. A decoder then compares two profiles and outputs a score. It's trained end-to-end with 5 seeds.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is the flow. Each researcher starts with 6 features. The encoder builds 13 profiles through message passing. Cross-layer attention merges them into one fused profile. The fusion gate blends local and global. Finally the decoder compares two researchers and gives a score. This is the same pipeline for training and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 evaluated with five metrics from three angles - probability separation, decision quality, and ranking - so no single metric could bias the conclusion. And I ran 5 seeds with a paired t-test to make sure my improvement is statistically real, not luck.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 the main metric, ROC-AUC, my model leads at 0.873. It significantly beats the neural baselines GAT and GCN on all three classification metrics, with p below 0.001. The error bars are tiny, so it is very stable across seeds.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are all five metrics for every model. The best in each column is in teal. Notice the pattern: my model wins on ROC-AUC, Node2Vec wins PR-AUC and F1, and the classical Adamic-Adar wins the ranking metrics. No single method wins everything - which is exactly why I report all of them honestly.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 each metric has a different winner - my model on ROC-AUC, Node2Vec on PR-AUC and F1, classical on ranking. But the classical and Node2Vec methods that win those metrics all fail on bridges. The honest takeaway is that no method wins everything; my model gives the best overall balance plus bridges and interpretability, which the others don't have.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my most important result. On bridge links, the classical methods are exactly 0.5 - random - and Node2Vec is even below random. My model reaches 0.615. It captures real signal exactly where the others are blind. This is not just a small margin - it's the difference between working and not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Unlike most deep-learning models, mine is interpretable. The cross-layer attention learns an importance weight, beta, for each domain, so I can show which research fields the model relies on most. That is a clear, dataset-level explanation, not a black 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 be honest about the limits: on overall ROC-AUC I roughly tie the classical methods, and Node2Vec wins on PR-AUC and F1. But those methods fail completely on bridges. So my contribution is the best overall balance, real bridge prediction, interpretability, and a significant, verified win over the neural baselines.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conclusion, I built an attention-based GNN that attends to bridges, combines all 13 layers, and is interpretable. It significantly beats the neural baselines and predicts bridges where classical methods are random. Future work includes a ranking loss, hard-negative sampling, and testing on more datasets. Thank you - I'm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Link Prediction in Multiplex Networks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3832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i="1">
                <a:solidFill>
                  <a:srgbClr val="6FC7CF"/>
                </a:solidFill>
                <a:latin typeface="Calibri"/>
              </a:rPr>
              <a:t>An Attention-Based Graph Neural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8463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Umme Farwa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492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BFD8DC"/>
                </a:solidFill>
                <a:latin typeface="Calibri"/>
              </a:rPr>
              <a:t>Supervisor: [ Prof. name ]   |   [ University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2A33"/>
                </a:solidFill>
                <a:latin typeface="Cambria"/>
              </a:rPr>
              <a:t>What problem am I solving?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 dirty="0">
                <a:solidFill>
                  <a:srgbClr val="0E7C86"/>
                </a:solidFill>
                <a:latin typeface="Calibri"/>
              </a:rPr>
              <a:t>The task</a:t>
            </a:r>
          </a:p>
          <a:p>
            <a:pPr algn="l">
              <a:spcAft>
                <a:spcPts val="800"/>
              </a:spcAft>
            </a:pPr>
            <a:r>
              <a:rPr sz="1700" b="0" dirty="0">
                <a:solidFill>
                  <a:srgbClr val="1A2A33"/>
                </a:solidFill>
                <a:latin typeface="Calibri"/>
              </a:rPr>
              <a:t>•   Predict future collaborations between researchers — like 'people you may know', but for research.</a:t>
            </a:r>
          </a:p>
          <a:p>
            <a:pPr algn="l">
              <a:spcAft>
                <a:spcPts val="800"/>
              </a:spcAft>
            </a:pPr>
            <a:r>
              <a:rPr sz="1900" b="1" dirty="0">
                <a:solidFill>
                  <a:srgbClr val="0E7C86"/>
                </a:solidFill>
                <a:latin typeface="Calibri"/>
              </a:rPr>
              <a:t>The setting: a multiplex network</a:t>
            </a:r>
          </a:p>
          <a:p>
            <a:pPr algn="l">
              <a:spcAft>
                <a:spcPts val="800"/>
              </a:spcAft>
            </a:pPr>
            <a:r>
              <a:rPr sz="1700" b="0" dirty="0">
                <a:solidFill>
                  <a:srgbClr val="1A2A33"/>
                </a:solidFill>
                <a:latin typeface="Calibri"/>
              </a:rPr>
              <a:t>•   The same researchers are connected across 13 research-domain layers (physics, math, biology, ...).</a:t>
            </a:r>
          </a:p>
          <a:p>
            <a:pPr algn="l">
              <a:spcAft>
                <a:spcPts val="800"/>
              </a:spcAft>
            </a:pPr>
            <a:r>
              <a:rPr sz="1700" b="0" dirty="0">
                <a:solidFill>
                  <a:srgbClr val="1A2A33"/>
                </a:solidFill>
                <a:latin typeface="Calibri"/>
              </a:rPr>
              <a:t>•   Each layer is one domain a link means two researchers co-authored a paper.</a:t>
            </a:r>
          </a:p>
          <a:p>
            <a:pPr algn="l">
              <a:spcAft>
                <a:spcPts val="800"/>
              </a:spcAft>
            </a:pPr>
            <a:r>
              <a:rPr sz="1900" b="1" dirty="0">
                <a:solidFill>
                  <a:srgbClr val="0E7C86"/>
                </a:solidFill>
                <a:latin typeface="Calibri"/>
              </a:rPr>
              <a:t>The hard, valuable case</a:t>
            </a:r>
          </a:p>
          <a:p>
            <a:pPr algn="l">
              <a:spcAft>
                <a:spcPts val="800"/>
              </a:spcAft>
            </a:pPr>
            <a:r>
              <a:rPr sz="1700" b="0" dirty="0">
                <a:solidFill>
                  <a:srgbClr val="1A2A33"/>
                </a:solidFill>
                <a:latin typeface="Calibri"/>
              </a:rPr>
              <a:t>•   Bridge links pairs from different fields with no collaborators in common yet</a:t>
            </a:r>
            <a:r>
              <a:rPr lang="en-US" sz="1700" dirty="0">
                <a:solidFill>
                  <a:srgbClr val="1A2A33"/>
                </a:solidFill>
                <a:latin typeface="Calibri"/>
              </a:rPr>
              <a:t>, </a:t>
            </a:r>
            <a:r>
              <a:rPr sz="1700" b="0" dirty="0">
                <a:solidFill>
                  <a:srgbClr val="1A2A33"/>
                </a:solidFill>
                <a:latin typeface="Calibri"/>
              </a:rPr>
              <a:t>the most interesting to predict.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2A33"/>
                </a:solidFill>
                <a:latin typeface="Cambria"/>
              </a:rPr>
              <a:t>Why is this hard? (The gap)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 dirty="0">
                <a:solidFill>
                  <a:srgbClr val="0E7C86"/>
                </a:solidFill>
                <a:latin typeface="Calibri"/>
              </a:rPr>
              <a:t>Old methods count shared connections</a:t>
            </a:r>
          </a:p>
          <a:p>
            <a:pPr algn="l">
              <a:spcAft>
                <a:spcPts val="800"/>
              </a:spcAft>
            </a:pPr>
            <a:r>
              <a:rPr sz="1700" b="0" dirty="0">
                <a:solidFill>
                  <a:srgbClr val="1A2A33"/>
                </a:solidFill>
                <a:latin typeface="Calibri"/>
              </a:rPr>
              <a:t>•   Classical heuristics score a pair by how many neighbors (collaborators) they share.</a:t>
            </a:r>
          </a:p>
          <a:p>
            <a:pPr algn="l">
              <a:spcAft>
                <a:spcPts val="800"/>
              </a:spcAft>
            </a:pPr>
            <a:r>
              <a:rPr sz="1700" b="0" dirty="0">
                <a:solidFill>
                  <a:srgbClr val="1A2A33"/>
                </a:solidFill>
                <a:latin typeface="Calibri"/>
              </a:rPr>
              <a:t>•   On bridge links there are NO shared neighbors, so they score zero and become RANDOM (ROC-AUC = 0.5).</a:t>
            </a:r>
          </a:p>
          <a:p>
            <a:pPr algn="l">
              <a:spcAft>
                <a:spcPts val="800"/>
              </a:spcAft>
            </a:pPr>
            <a:r>
              <a:rPr sz="1900" b="1" dirty="0">
                <a:solidFill>
                  <a:srgbClr val="0E7C86"/>
                </a:solidFill>
                <a:latin typeface="Calibri"/>
              </a:rPr>
              <a:t>They ignore the cross-layer structure</a:t>
            </a:r>
          </a:p>
          <a:p>
            <a:pPr algn="l">
              <a:spcAft>
                <a:spcPts val="800"/>
              </a:spcAft>
            </a:pPr>
            <a:r>
              <a:rPr sz="1700" b="0" dirty="0">
                <a:solidFill>
                  <a:srgbClr val="1A2A33"/>
                </a:solidFill>
                <a:latin typeface="Calibri"/>
              </a:rPr>
              <a:t>•   Most methods look at each field separately and waste the information shared across fields.</a:t>
            </a:r>
          </a:p>
          <a:p>
            <a:pPr algn="l">
              <a:spcAft>
                <a:spcPts val="800"/>
              </a:spcAft>
            </a:pPr>
            <a:r>
              <a:rPr sz="1900" b="1" dirty="0">
                <a:solidFill>
                  <a:srgbClr val="0E7C86"/>
                </a:solidFill>
                <a:latin typeface="Calibri"/>
              </a:rPr>
              <a:t>So I needed a model that:</a:t>
            </a:r>
          </a:p>
          <a:p>
            <a:pPr algn="l">
              <a:spcAft>
                <a:spcPts val="800"/>
              </a:spcAft>
            </a:pPr>
            <a:r>
              <a:rPr sz="1700" b="0" dirty="0">
                <a:solidFill>
                  <a:srgbClr val="1A2A33"/>
                </a:solidFill>
                <a:latin typeface="Calibri"/>
              </a:rPr>
              <a:t>•   (1) can see bridge links,  (2) combines all 13 layers,  (3) stays interpretable.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2A33"/>
                </a:solidFill>
                <a:latin typeface="Cambria"/>
              </a:rPr>
              <a:t>The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2236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 dirty="0">
                <a:solidFill>
                  <a:srgbClr val="0E7C86"/>
                </a:solidFill>
                <a:latin typeface="Calibri"/>
              </a:rPr>
              <a:t>arXiv </a:t>
            </a:r>
            <a:r>
              <a:rPr sz="1900" b="1" dirty="0" err="1">
                <a:solidFill>
                  <a:srgbClr val="0E7C86"/>
                </a:solidFill>
                <a:latin typeface="Calibri"/>
              </a:rPr>
              <a:t>Netscience</a:t>
            </a:r>
            <a:r>
              <a:rPr sz="1900" b="1" dirty="0">
                <a:solidFill>
                  <a:srgbClr val="0E7C86"/>
                </a:solidFill>
                <a:latin typeface="Calibri"/>
              </a:rPr>
              <a:t> multiplex co-authorship network</a:t>
            </a:r>
          </a:p>
          <a:p>
            <a:pPr algn="l">
              <a:spcAft>
                <a:spcPts val="800"/>
              </a:spcAft>
            </a:pPr>
            <a:r>
              <a:rPr sz="1700" b="0" dirty="0">
                <a:solidFill>
                  <a:srgbClr val="1A2A33"/>
                </a:solidFill>
                <a:latin typeface="Calibri"/>
              </a:rPr>
              <a:t>•   13 layers — each a research domain (physics, math, condensed matter, quantitative biology, ...).</a:t>
            </a:r>
          </a:p>
          <a:p>
            <a:pPr algn="l">
              <a:spcAft>
                <a:spcPts val="800"/>
              </a:spcAft>
            </a:pPr>
            <a:r>
              <a:rPr sz="1700" b="0" dirty="0">
                <a:solidFill>
                  <a:srgbClr val="1A2A33"/>
                </a:solidFill>
                <a:latin typeface="Calibri"/>
              </a:rPr>
              <a:t>•   About 14,065 researchers (nodes); links = co-authorships.</a:t>
            </a:r>
          </a:p>
          <a:p>
            <a:pPr algn="l">
              <a:spcAft>
                <a:spcPts val="800"/>
              </a:spcAft>
            </a:pPr>
            <a:r>
              <a:rPr sz="1700" b="0" dirty="0">
                <a:solidFill>
                  <a:srgbClr val="1A2A33"/>
                </a:solidFill>
                <a:latin typeface="Calibri"/>
              </a:rPr>
              <a:t>•   The same researcher keeps the same identity across all 13 layers.</a:t>
            </a:r>
          </a:p>
          <a:p>
            <a:pPr algn="l">
              <a:spcAft>
                <a:spcPts val="800"/>
              </a:spcAft>
            </a:pPr>
            <a:r>
              <a:rPr sz="1900" b="1" dirty="0">
                <a:solidFill>
                  <a:srgbClr val="0E7C86"/>
                </a:solidFill>
                <a:latin typeface="Calibri"/>
              </a:rPr>
              <a:t>The challenge</a:t>
            </a:r>
          </a:p>
          <a:p>
            <a:pPr algn="l">
              <a:spcAft>
                <a:spcPts val="800"/>
              </a:spcAft>
            </a:pPr>
            <a:r>
              <a:rPr sz="1700" b="0" dirty="0">
                <a:solidFill>
                  <a:srgbClr val="1A2A33"/>
                </a:solidFill>
                <a:latin typeface="Calibri"/>
              </a:rPr>
              <a:t>•   The dataset has NO node attributes  </a:t>
            </a:r>
            <a:r>
              <a:rPr lang="en-US" sz="1700" b="0" dirty="0">
                <a:solidFill>
                  <a:srgbClr val="1A2A33"/>
                </a:solidFill>
                <a:latin typeface="Calibri"/>
              </a:rPr>
              <a:t>(</a:t>
            </a:r>
            <a:r>
              <a:rPr sz="1700" b="0" dirty="0">
                <a:solidFill>
                  <a:srgbClr val="1A2A33"/>
                </a:solidFill>
                <a:latin typeface="Calibri"/>
              </a:rPr>
              <a:t>no ready-made information describing each researcher.</a:t>
            </a:r>
            <a:r>
              <a:rPr lang="en-US" sz="1700" b="0" dirty="0">
                <a:solidFill>
                  <a:srgbClr val="1A2A33"/>
                </a:solidFill>
                <a:latin typeface="Calibri"/>
              </a:rPr>
              <a:t>)</a:t>
            </a:r>
            <a:endParaRPr sz="1700" b="0" dirty="0">
              <a:solidFill>
                <a:srgbClr val="1A2A33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2A33"/>
                </a:solidFill>
                <a:latin typeface="Cambria"/>
              </a:rPr>
              <a:t>Node features — I engineered them from the 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E7C86"/>
                </a:solidFill>
                <a:latin typeface="Calibri"/>
              </a:rPr>
              <a:t>Since there were no attributes, I built 6 structural (graph) features per researcher: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2A33"/>
                </a:solidFill>
                <a:latin typeface="Calibri"/>
              </a:rPr>
              <a:t>•   Degree centrality — how many collaborators a researcher has.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2A33"/>
                </a:solidFill>
                <a:latin typeface="Calibri"/>
              </a:rPr>
              <a:t>•   PageRank — how important they are, based on their collaborators' importance.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2A33"/>
                </a:solidFill>
                <a:latin typeface="Calibri"/>
              </a:rPr>
              <a:t>•   Clustering coefficient — how tightly their collaborators are connected.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2A33"/>
                </a:solidFill>
                <a:latin typeface="Calibri"/>
              </a:rPr>
              <a:t>•   K-core number — how deep in the dense core of the network they sit.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2A33"/>
                </a:solidFill>
                <a:latin typeface="Calibri"/>
              </a:rPr>
              <a:t>•   Betweenness centrality — how often they act as a bridge between others.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2A33"/>
                </a:solidFill>
                <a:latin typeface="Calibri"/>
              </a:rPr>
              <a:t>•   Eigenvector centrality — how connected they are to other important researchers.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0E7C86"/>
                </a:solidFill>
                <a:latin typeface="Calibri"/>
              </a:rPr>
              <a:t>Why this matters: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2A33"/>
                </a:solidFill>
                <a:latin typeface="Calibri"/>
              </a:rPr>
              <a:t>•   These describe each researcher's role in the network — and I gave the SAME 6 features to every model, so the comparison is fair.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2A33"/>
                </a:solidFill>
                <a:latin typeface="Cambria"/>
              </a:rPr>
              <a:t>How I set up a fair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0E7C86"/>
                </a:solidFill>
                <a:latin typeface="Calibri"/>
              </a:rPr>
              <a:t>Train / Validation / Test split (per layer)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A33"/>
                </a:solidFill>
                <a:latin typeface="Calibri"/>
              </a:rPr>
              <a:t>•   70% train (model learns), 10% validation (tune settings), 20% test (final, hidden exam).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0E7C86"/>
                </a:solidFill>
                <a:latin typeface="Calibri"/>
              </a:rPr>
              <a:t>Negative edges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A33"/>
                </a:solidFill>
                <a:latin typeface="Calibri"/>
              </a:rPr>
              <a:t>•   I created fake (non-existing) links, so each model is judged on separating real links from fake ones.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0E7C86"/>
                </a:solidFill>
                <a:latin typeface="Calibri"/>
              </a:rPr>
              <a:t>Leakage-free &amp; fair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A33"/>
                </a:solidFill>
                <a:latin typeface="Calibri"/>
              </a:rPr>
              <a:t>•   All structure computed on the training graph only; decision thresholds tuned on validation, never on test.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46888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Baselines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749039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BFD8DC"/>
                </a:solidFill>
                <a:latin typeface="Calibri"/>
              </a:rPr>
              <a:t>How I built each one, and what I learned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2A33"/>
                </a:solidFill>
                <a:latin typeface="Cambria"/>
              </a:rPr>
              <a:t>Classical baselines (similarity-based)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E7C86"/>
                </a:solidFill>
                <a:latin typeface="Calibri"/>
              </a:rPr>
              <a:t>Method — score a pair by shared neighbours: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2A33"/>
                </a:solidFill>
                <a:latin typeface="Calibri"/>
              </a:rPr>
              <a:t>•   Common Neighbours = count of shared collaborators.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2A33"/>
                </a:solidFill>
                <a:latin typeface="Calibri"/>
              </a:rPr>
              <a:t>•   Jaccard = shared / total collaborators.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2A33"/>
                </a:solidFill>
                <a:latin typeface="Calibri"/>
              </a:rPr>
              <a:t>•   Adamic–Adar = shared neighbours weighted by 1 / log(degree).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2A33"/>
                </a:solidFill>
                <a:latin typeface="Calibri"/>
              </a:rPr>
              <a:t>•   Preferential Attachment = degree(u) × degree(v).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0E7C86"/>
                </a:solidFill>
                <a:latin typeface="Calibri"/>
              </a:rPr>
              <a:t>Runs: deterministic — a single run (no randomness).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0E7C86"/>
                </a:solidFill>
                <a:latin typeface="Calibri"/>
              </a:rPr>
              <a:t>Results (avg ROC-AUC): AA / CN / Jaccard ≈ 0.87;  Pref. Attachment ≈ 0.60.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0E7C86"/>
                </a:solidFill>
                <a:latin typeface="Calibri"/>
              </a:rPr>
              <a:t>What I learned: strong on ordinary links, but RANDOM (0.5) on bridge links.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2A33"/>
                </a:solidFill>
                <a:latin typeface="Cambria"/>
              </a:rPr>
              <a:t>Node2Vec (embedding baseline)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dirty="0">
                <a:solidFill>
                  <a:srgbClr val="0E7C86"/>
                </a:solidFill>
                <a:latin typeface="Calibri"/>
              </a:rPr>
              <a:t>Method</a:t>
            </a:r>
          </a:p>
          <a:p>
            <a:pPr algn="l">
              <a:spcAft>
                <a:spcPts val="800"/>
              </a:spcAft>
            </a:pPr>
            <a:r>
              <a:rPr sz="1600" b="0" dirty="0">
                <a:solidFill>
                  <a:srgbClr val="1A2A33"/>
                </a:solidFill>
                <a:latin typeface="Calibri"/>
              </a:rPr>
              <a:t>•   Learns a 64-number embedding for each node from biased random walks (like word embeddings).</a:t>
            </a:r>
          </a:p>
          <a:p>
            <a:pPr algn="l">
              <a:spcAft>
                <a:spcPts val="800"/>
              </a:spcAft>
            </a:pPr>
            <a:r>
              <a:rPr sz="1600" b="0" dirty="0">
                <a:solidFill>
                  <a:srgbClr val="1A2A33"/>
                </a:solidFill>
                <a:latin typeface="Calibri"/>
              </a:rPr>
              <a:t>•   The embeddings of two nodes are combined and a logistic-regression classifier predicts the link.</a:t>
            </a:r>
          </a:p>
          <a:p>
            <a:pPr algn="l">
              <a:spcAft>
                <a:spcPts val="800"/>
              </a:spcAft>
            </a:pPr>
            <a:r>
              <a:rPr sz="1800" b="1" dirty="0">
                <a:solidFill>
                  <a:srgbClr val="0E7C86"/>
                </a:solidFill>
                <a:latin typeface="Calibri"/>
              </a:rPr>
              <a:t>Runs: 5 seeds.</a:t>
            </a:r>
          </a:p>
          <a:p>
            <a:pPr algn="l">
              <a:spcAft>
                <a:spcPts val="800"/>
              </a:spcAft>
            </a:pPr>
            <a:r>
              <a:rPr sz="1800" b="1" dirty="0">
                <a:solidFill>
                  <a:srgbClr val="0E7C86"/>
                </a:solidFill>
                <a:latin typeface="Calibri"/>
              </a:rPr>
              <a:t>Result: ROC-AUC ≈ 0.849 (also strong on PR-AUC and F1).</a:t>
            </a:r>
          </a:p>
          <a:p>
            <a:pPr algn="l">
              <a:spcAft>
                <a:spcPts val="800"/>
              </a:spcAft>
            </a:pPr>
            <a:r>
              <a:rPr sz="1800" b="1" dirty="0">
                <a:solidFill>
                  <a:srgbClr val="0E7C86"/>
                </a:solidFill>
                <a:latin typeface="Calibri"/>
              </a:rPr>
              <a:t>What I learned: embeddings help, but Node2Vec ignores node features, is not trained for the task, and treats each layer separately.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2A33"/>
                </a:solidFill>
                <a:latin typeface="Cambria"/>
              </a:rPr>
              <a:t>GNN baselines: GCN and GAT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dirty="0">
                <a:solidFill>
                  <a:srgbClr val="0E7C86"/>
                </a:solidFill>
                <a:latin typeface="Calibri"/>
              </a:rPr>
              <a:t>Method — learn node embeddings by combining neighbors' information:</a:t>
            </a:r>
          </a:p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1A2A33"/>
                </a:solidFill>
                <a:latin typeface="Calibri"/>
              </a:rPr>
              <a:t>•   GCN — combines neighbors with EQUAL weight.</a:t>
            </a:r>
          </a:p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1A2A33"/>
                </a:solidFill>
                <a:latin typeface="Calibri"/>
              </a:rPr>
              <a:t>•   GAT — uses ATTENTION to weight neighbors differently (some matter more).</a:t>
            </a:r>
          </a:p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1A2A33"/>
                </a:solidFill>
                <a:latin typeface="Calibri"/>
              </a:rPr>
              <a:t>•   Both used the same 6 features + an MLP decoder to score links.</a:t>
            </a:r>
          </a:p>
          <a:p>
            <a:pPr algn="l">
              <a:spcAft>
                <a:spcPts val="800"/>
              </a:spcAft>
            </a:pPr>
            <a:r>
              <a:rPr sz="1700" b="1" dirty="0">
                <a:solidFill>
                  <a:srgbClr val="0E7C86"/>
                </a:solidFill>
                <a:latin typeface="Calibri"/>
              </a:rPr>
              <a:t>Runs: 5 seeds each.</a:t>
            </a:r>
          </a:p>
          <a:p>
            <a:pPr algn="l">
              <a:spcAft>
                <a:spcPts val="800"/>
              </a:spcAft>
            </a:pPr>
            <a:r>
              <a:rPr sz="1700" b="1" dirty="0">
                <a:solidFill>
                  <a:srgbClr val="0E7C86"/>
                </a:solidFill>
                <a:latin typeface="Calibri"/>
              </a:rPr>
              <a:t>Results (avg ROC-AUC): GAT ≈ 0.822,  GCN ≈ 0.767.</a:t>
            </a:r>
          </a:p>
          <a:p>
            <a:pPr algn="l">
              <a:spcAft>
                <a:spcPts val="800"/>
              </a:spcAft>
            </a:pPr>
            <a:r>
              <a:rPr sz="1700" b="1" dirty="0">
                <a:solidFill>
                  <a:srgbClr val="0E7C86"/>
                </a:solidFill>
                <a:latin typeface="Calibri"/>
              </a:rPr>
              <a:t>What I learned: GAT (attention) was my strongest baseline</a:t>
            </a:r>
            <a:r>
              <a:rPr lang="en-US" sz="1700" b="1" dirty="0">
                <a:solidFill>
                  <a:srgbClr val="0E7C86"/>
                </a:solidFill>
                <a:latin typeface="Calibri"/>
              </a:rPr>
              <a:t>,</a:t>
            </a:r>
            <a:r>
              <a:rPr sz="1700" b="1" dirty="0">
                <a:solidFill>
                  <a:srgbClr val="0E7C86"/>
                </a:solidFill>
                <a:latin typeface="Calibri"/>
              </a:rPr>
              <a:t> but both still process each layer alone and have no sense of bridges.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2A33"/>
                </a:solidFill>
                <a:latin typeface="Cambria"/>
              </a:rPr>
              <a:t>Baseline results &amp; what they taught me</a:t>
            </a:r>
          </a:p>
        </p:txBody>
      </p:sp>
      <p:pic>
        <p:nvPicPr>
          <p:cNvPr id="3" name="Picture 2" descr="rep_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59013"/>
            <a:ext cx="6583680" cy="35629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23760" y="1554480"/>
            <a:ext cx="4663440" cy="2544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dirty="0">
                <a:solidFill>
                  <a:srgbClr val="0E7C86"/>
                </a:solidFill>
                <a:latin typeface="Calibri"/>
              </a:rPr>
              <a:t>The lessons that shaped my model:</a:t>
            </a:r>
          </a:p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1A2A33"/>
                </a:solidFill>
                <a:latin typeface="Calibri"/>
              </a:rPr>
              <a:t>•   Classical → fail on bridges.</a:t>
            </a:r>
          </a:p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1A2A33"/>
                </a:solidFill>
                <a:latin typeface="Calibri"/>
              </a:rPr>
              <a:t>•   Node2Vec → ignores features &amp; layers.</a:t>
            </a:r>
          </a:p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1A2A33"/>
                </a:solidFill>
                <a:latin typeface="Calibri"/>
              </a:rPr>
              <a:t>•   GCN → treats neighbors equally.</a:t>
            </a:r>
          </a:p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1A2A33"/>
                </a:solidFill>
                <a:latin typeface="Calibri"/>
              </a:rPr>
              <a:t>•   GAT → attention helps, but single-layer, no bridge</a:t>
            </a:r>
            <a:r>
              <a:rPr lang="en-US" sz="1500" b="0" dirty="0">
                <a:solidFill>
                  <a:srgbClr val="1A2A33"/>
                </a:solidFill>
                <a:latin typeface="Calibri"/>
              </a:rPr>
              <a:t>   mechanism/explicit weak-tie-signal</a:t>
            </a:r>
            <a:r>
              <a:rPr sz="1500" b="0" dirty="0">
                <a:solidFill>
                  <a:srgbClr val="1A2A33"/>
                </a:solidFill>
                <a:latin typeface="Calibri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1700" b="1" dirty="0">
                <a:solidFill>
                  <a:srgbClr val="0E7C86"/>
                </a:solidFill>
                <a:latin typeface="Calibri"/>
              </a:rPr>
              <a:t>→ I need: atten</a:t>
            </a:r>
            <a:r>
              <a:rPr lang="en-US" sz="1700" b="1" dirty="0">
                <a:solidFill>
                  <a:srgbClr val="0E7C86"/>
                </a:solidFill>
                <a:latin typeface="Calibri"/>
              </a:rPr>
              <a:t>tion</a:t>
            </a:r>
            <a:r>
              <a:rPr sz="1700" b="1" dirty="0">
                <a:solidFill>
                  <a:srgbClr val="0E7C86"/>
                </a:solidFill>
                <a:latin typeface="Calibri"/>
              </a:rPr>
              <a:t> to bridges + combine all layers + interpretable.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46888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My Proposed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749039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BFD8DC"/>
                </a:solidFill>
                <a:latin typeface="Calibri"/>
              </a:rPr>
              <a:t>Attention across layers, with a weak-tie signal for bridges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2A33"/>
                </a:solidFill>
                <a:latin typeface="Cambria"/>
              </a:rPr>
              <a:t>My model — three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78992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dirty="0">
                <a:solidFill>
                  <a:srgbClr val="0E7C86"/>
                </a:solidFill>
                <a:latin typeface="Calibri"/>
              </a:rPr>
              <a:t>1.  Weak-tie GAT encoder (per layer)</a:t>
            </a:r>
          </a:p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1A2A33"/>
                </a:solidFill>
                <a:latin typeface="Calibri"/>
              </a:rPr>
              <a:t>•   Builds a profile of each researcher</a:t>
            </a:r>
            <a:r>
              <a:rPr lang="en-US" sz="1500" b="0" dirty="0">
                <a:solidFill>
                  <a:srgbClr val="1A2A33"/>
                </a:solidFill>
                <a:latin typeface="Calibri"/>
              </a:rPr>
              <a:t>,</a:t>
            </a:r>
            <a:r>
              <a:rPr sz="1500" b="0" dirty="0">
                <a:solidFill>
                  <a:srgbClr val="1A2A33"/>
                </a:solidFill>
                <a:latin typeface="Calibri"/>
              </a:rPr>
              <a:t> injects a weak-tie score (1 − Jaccard) into the attention, so it pays special attention to bridging connections.</a:t>
            </a:r>
          </a:p>
          <a:p>
            <a:pPr algn="l">
              <a:spcAft>
                <a:spcPts val="800"/>
              </a:spcAft>
            </a:pPr>
            <a:r>
              <a:rPr sz="1700" b="1" dirty="0">
                <a:solidFill>
                  <a:srgbClr val="0E7C86"/>
                </a:solidFill>
                <a:latin typeface="Calibri"/>
              </a:rPr>
              <a:t>2.  Cross-layer attention (β)</a:t>
            </a:r>
          </a:p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1A2A33"/>
                </a:solidFill>
                <a:latin typeface="Calibri"/>
              </a:rPr>
              <a:t>•   Combines each researcher's 13 layer-profiles into one, learning how important each domain is — this also makes it interpretable.</a:t>
            </a:r>
          </a:p>
          <a:p>
            <a:pPr algn="l">
              <a:spcAft>
                <a:spcPts val="800"/>
              </a:spcAft>
            </a:pPr>
            <a:r>
              <a:rPr sz="1700" b="1" dirty="0">
                <a:solidFill>
                  <a:srgbClr val="0E7C86"/>
                </a:solidFill>
                <a:latin typeface="Calibri"/>
              </a:rPr>
              <a:t>3.  Fusion gate</a:t>
            </a:r>
          </a:p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1A2A33"/>
                </a:solidFill>
                <a:latin typeface="Calibri"/>
              </a:rPr>
              <a:t>•   Blends each domain's local profile with the global cross-layer profile (sparse layers borrow strength, keep their own detail).</a:t>
            </a:r>
          </a:p>
          <a:p>
            <a:pPr algn="l">
              <a:spcAft>
                <a:spcPts val="800"/>
              </a:spcAft>
            </a:pPr>
            <a:r>
              <a:rPr sz="1700" b="1" dirty="0">
                <a:solidFill>
                  <a:srgbClr val="0E7C86"/>
                </a:solidFill>
                <a:latin typeface="Calibri"/>
              </a:rPr>
              <a:t>A decoder then compares two profiles → collaboration score.  Trained end-to-end, with 5 seeds.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2A33"/>
                </a:solidFill>
                <a:latin typeface="Cambria"/>
              </a:rPr>
              <a:t>How a prediction is made (the flow)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737360"/>
            <a:ext cx="9235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>
                <a:solidFill>
                  <a:srgbClr val="1A2A33"/>
                </a:solidFill>
                <a:latin typeface="Calibri"/>
              </a:rPr>
              <a:t>6 structural features (per researcher, per layer)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5486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000" b="1">
                <a:solidFill>
                  <a:srgbClr val="0E7C86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22860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B4690E"/>
                </a:solidFill>
              </a:rPr>
              <a:t>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670048"/>
            <a:ext cx="9235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>
                <a:solidFill>
                  <a:srgbClr val="1A2A33"/>
                </a:solidFill>
                <a:latin typeface="Calibri"/>
              </a:rPr>
              <a:t>Weak-tie GAT encoder — message passing (2 hops)  →  13 profiles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70048"/>
            <a:ext cx="5486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000" b="1">
                <a:solidFill>
                  <a:srgbClr val="0E7C86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321868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B4690E"/>
                </a:solidFill>
              </a:rPr>
              <a:t>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602736"/>
            <a:ext cx="9235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>
                <a:solidFill>
                  <a:srgbClr val="1A2A33"/>
                </a:solidFill>
                <a:latin typeface="Calibri"/>
              </a:rPr>
              <a:t>Cross-layer attention (β)  →  1 fused 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02736"/>
            <a:ext cx="5486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000" b="1">
                <a:solidFill>
                  <a:srgbClr val="0E7C86"/>
                </a:solidFill>
                <a:latin typeface="Cambr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4151376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B4690E"/>
                </a:solidFill>
              </a:rP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535424"/>
            <a:ext cx="9235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>
                <a:solidFill>
                  <a:srgbClr val="1A2A33"/>
                </a:solidFill>
                <a:latin typeface="Calibri"/>
              </a:rPr>
              <a:t>Fusion gate (local + global)  →  final profile per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535424"/>
            <a:ext cx="5486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000" b="1">
                <a:solidFill>
                  <a:srgbClr val="0E7C86"/>
                </a:solidFill>
                <a:latin typeface="Cambria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5084064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B4690E"/>
                </a:solidFill>
              </a:rP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468112"/>
            <a:ext cx="9235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>
                <a:solidFill>
                  <a:srgbClr val="1A2A33"/>
                </a:solidFill>
                <a:latin typeface="Calibri"/>
              </a:rPr>
              <a:t>Decoder compares two profiles  →  collaboration score (0–1)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468112"/>
            <a:ext cx="5486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000" b="1">
                <a:solidFill>
                  <a:srgbClr val="0E7C86"/>
                </a:solidFill>
                <a:latin typeface="Cambria"/>
              </a:rPr>
              <a:t>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2A33"/>
                </a:solidFill>
                <a:latin typeface="Cambria"/>
              </a:rPr>
              <a:t>How I evaluated everything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dirty="0">
                <a:solidFill>
                  <a:srgbClr val="0E7C86"/>
                </a:solidFill>
                <a:latin typeface="Calibri"/>
              </a:rPr>
              <a:t>Five metrics, from three different angles:</a:t>
            </a:r>
          </a:p>
          <a:p>
            <a:pPr algn="l">
              <a:spcAft>
                <a:spcPts val="800"/>
              </a:spcAft>
            </a:pPr>
            <a:r>
              <a:rPr sz="1600" b="0" dirty="0">
                <a:solidFill>
                  <a:srgbClr val="1A2A33"/>
                </a:solidFill>
                <a:latin typeface="Calibri"/>
              </a:rPr>
              <a:t>•   ROC-AUC — overall separation of real vs fake links (main metric).</a:t>
            </a:r>
          </a:p>
          <a:p>
            <a:pPr algn="l">
              <a:spcAft>
                <a:spcPts val="800"/>
              </a:spcAft>
            </a:pPr>
            <a:r>
              <a:rPr sz="1600" b="0" dirty="0">
                <a:solidFill>
                  <a:srgbClr val="1A2A33"/>
                </a:solidFill>
                <a:latin typeface="Calibri"/>
              </a:rPr>
              <a:t>•   PR-AUC — focuses on the rare positive links (honest under imbalance).</a:t>
            </a:r>
          </a:p>
          <a:p>
            <a:pPr algn="l">
              <a:spcAft>
                <a:spcPts val="800"/>
              </a:spcAft>
            </a:pPr>
            <a:r>
              <a:rPr sz="1600" b="0" dirty="0">
                <a:solidFill>
                  <a:srgbClr val="1A2A33"/>
                </a:solidFill>
                <a:latin typeface="Calibri"/>
              </a:rPr>
              <a:t>•   F1-score — quality of the final yes/no decision (threshold tuned on validation).</a:t>
            </a:r>
          </a:p>
          <a:p>
            <a:pPr algn="l">
              <a:spcAft>
                <a:spcPts val="800"/>
              </a:spcAft>
            </a:pPr>
            <a:r>
              <a:rPr sz="1600" b="0" dirty="0">
                <a:solidFill>
                  <a:srgbClr val="1A2A33"/>
                </a:solidFill>
                <a:latin typeface="Calibri"/>
              </a:rPr>
              <a:t>•   </a:t>
            </a:r>
            <a:r>
              <a:rPr sz="1600" b="0" dirty="0" err="1">
                <a:solidFill>
                  <a:srgbClr val="1A2A33"/>
                </a:solidFill>
                <a:latin typeface="Calibri"/>
              </a:rPr>
              <a:t>Hits@K</a:t>
            </a:r>
            <a:r>
              <a:rPr sz="1600" b="0" dirty="0">
                <a:solidFill>
                  <a:srgbClr val="1A2A33"/>
                </a:solidFill>
                <a:latin typeface="Calibri"/>
              </a:rPr>
              <a:t> and MRR — ranking quality (is the true link near the top?).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0E7C86"/>
                </a:solidFill>
                <a:latin typeface="Calibri"/>
              </a:rPr>
              <a:t>Statistical rigor</a:t>
            </a:r>
            <a:endParaRPr sz="1800" b="1" dirty="0">
              <a:solidFill>
                <a:srgbClr val="0E7C86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r>
              <a:rPr sz="1600" b="0" dirty="0">
                <a:solidFill>
                  <a:srgbClr val="1A2A33"/>
                </a:solidFill>
                <a:latin typeface="Calibri"/>
              </a:rPr>
              <a:t>•   Neural models run with 5 random seeds a paired t-test checks the improvement is real, not luck.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2A33"/>
                </a:solidFill>
                <a:latin typeface="Cambria"/>
              </a:rPr>
              <a:t>Overall results</a:t>
            </a:r>
          </a:p>
        </p:txBody>
      </p:sp>
      <p:pic>
        <p:nvPicPr>
          <p:cNvPr id="3" name="Picture 2" descr="fig1_roc_au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06880"/>
            <a:ext cx="7680960" cy="426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83879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E7C86"/>
                </a:solidFill>
                <a:latin typeface="Calibri"/>
              </a:rPr>
              <a:t>My model leads on ROC-AUC: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2A33"/>
                </a:solidFill>
                <a:latin typeface="Calibri"/>
              </a:rPr>
              <a:t>•   Proposed ≈ 0.873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2A33"/>
                </a:solidFill>
                <a:latin typeface="Calibri"/>
              </a:rPr>
              <a:t>•   GAT 0.822 · GCN 0.767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0E7C86"/>
                </a:solidFill>
                <a:latin typeface="Calibri"/>
              </a:rPr>
              <a:t>Significantly beats GAT &amp; GCN on all 3 metrics (paired t-test, p &lt; 0.001).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0E7C86"/>
                </a:solidFill>
                <a:latin typeface="Calibri"/>
              </a:rPr>
              <a:t>Small ± std → very stable across seeds.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2A33"/>
                </a:solidFill>
                <a:latin typeface="Cambria"/>
              </a:rPr>
              <a:t>All metrics — who wins where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417320"/>
          <a:ext cx="111556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0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07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07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007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007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PR-AUC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MRR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Hits@10</a:t>
                      </a:r>
                    </a:p>
                  </a:txBody>
                  <a:tcPr>
                    <a:solidFill>
                      <a:srgbClr val="0E7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2A33"/>
                          </a:solidFill>
                          <a:latin typeface="Calibri"/>
                        </a:rPr>
                        <a:t>Proposed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E7C86"/>
                          </a:solidFill>
                          <a:latin typeface="Calibri"/>
                        </a:rPr>
                        <a:t>0.873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A33"/>
                          </a:solidFill>
                          <a:latin typeface="Calibri"/>
                        </a:rPr>
                        <a:t>0.893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A33"/>
                          </a:solidFill>
                          <a:latin typeface="Calibri"/>
                        </a:rPr>
                        <a:t>0.814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1A2A33"/>
                          </a:solidFill>
                          <a:latin typeface="Calibri"/>
                        </a:rPr>
                        <a:t>0.283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1A2A33"/>
                          </a:solidFill>
                          <a:latin typeface="Calibri"/>
                        </a:rPr>
                        <a:t>0.473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2A33"/>
                          </a:solidFill>
                          <a:latin typeface="Calibri"/>
                        </a:rPr>
                        <a:t>Adamic-Adar</a:t>
                      </a:r>
                    </a:p>
                  </a:txBody>
                  <a:tcPr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A33"/>
                          </a:solidFill>
                          <a:latin typeface="Calibri"/>
                        </a:rPr>
                        <a:t>0.872</a:t>
                      </a:r>
                    </a:p>
                  </a:txBody>
                  <a:tcPr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A33"/>
                          </a:solidFill>
                          <a:latin typeface="Calibri"/>
                        </a:rPr>
                        <a:t>0.872</a:t>
                      </a:r>
                    </a:p>
                  </a:txBody>
                  <a:tcPr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A33"/>
                          </a:solidFill>
                          <a:latin typeface="Calibri"/>
                        </a:rPr>
                        <a:t>0.850</a:t>
                      </a:r>
                    </a:p>
                  </a:txBody>
                  <a:tcPr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E7C86"/>
                          </a:solidFill>
                          <a:latin typeface="Calibri"/>
                        </a:rPr>
                        <a:t>0.667</a:t>
                      </a:r>
                    </a:p>
                  </a:txBody>
                  <a:tcPr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E7C86"/>
                          </a:solidFill>
                          <a:latin typeface="Calibri"/>
                        </a:rPr>
                        <a:t>0.746</a:t>
                      </a:r>
                    </a:p>
                  </a:txBody>
                  <a:tcPr>
                    <a:solidFill>
                      <a:srgbClr val="EE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2A33"/>
                          </a:solidFill>
                          <a:latin typeface="Calibri"/>
                        </a:rPr>
                        <a:t>Common Neighbours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A33"/>
                          </a:solidFill>
                          <a:latin typeface="Calibri"/>
                        </a:rPr>
                        <a:t>0.872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A33"/>
                          </a:solidFill>
                          <a:latin typeface="Calibri"/>
                        </a:rPr>
                        <a:t>0.871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A33"/>
                          </a:solidFill>
                          <a:latin typeface="Calibri"/>
                        </a:rPr>
                        <a:t>0.851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A33"/>
                          </a:solidFill>
                          <a:latin typeface="Calibri"/>
                        </a:rPr>
                        <a:t>0.559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A33"/>
                          </a:solidFill>
                          <a:latin typeface="Calibri"/>
                        </a:rPr>
                        <a:t>0.746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2A33"/>
                          </a:solidFill>
                          <a:latin typeface="Calibri"/>
                        </a:rPr>
                        <a:t>Jaccard</a:t>
                      </a:r>
                    </a:p>
                  </a:txBody>
                  <a:tcPr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A33"/>
                          </a:solidFill>
                          <a:latin typeface="Calibri"/>
                        </a:rPr>
                        <a:t>0.872</a:t>
                      </a:r>
                    </a:p>
                  </a:txBody>
                  <a:tcPr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A33"/>
                          </a:solidFill>
                          <a:latin typeface="Calibri"/>
                        </a:rPr>
                        <a:t>0.871</a:t>
                      </a:r>
                    </a:p>
                  </a:txBody>
                  <a:tcPr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A33"/>
                          </a:solidFill>
                          <a:latin typeface="Calibri"/>
                        </a:rPr>
                        <a:t>0.849</a:t>
                      </a:r>
                    </a:p>
                  </a:txBody>
                  <a:tcPr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A33"/>
                          </a:solidFill>
                          <a:latin typeface="Calibri"/>
                        </a:rPr>
                        <a:t>0.575</a:t>
                      </a:r>
                    </a:p>
                  </a:txBody>
                  <a:tcPr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A33"/>
                          </a:solidFill>
                          <a:latin typeface="Calibri"/>
                        </a:rPr>
                        <a:t>0.732</a:t>
                      </a:r>
                    </a:p>
                  </a:txBody>
                  <a:tcPr>
                    <a:solidFill>
                      <a:srgbClr val="EE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2A33"/>
                          </a:solidFill>
                          <a:latin typeface="Calibri"/>
                        </a:rPr>
                        <a:t>Proposed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A33"/>
                          </a:solidFill>
                          <a:latin typeface="Calibri"/>
                        </a:rPr>
                        <a:t>0.871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A33"/>
                          </a:solidFill>
                          <a:latin typeface="Calibri"/>
                        </a:rPr>
                        <a:t>0.895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A33"/>
                          </a:solidFill>
                          <a:latin typeface="Calibri"/>
                        </a:rPr>
                        <a:t>0.810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A33"/>
                          </a:solidFill>
                          <a:latin typeface="Calibri"/>
                        </a:rPr>
                        <a:t>0.336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A33"/>
                          </a:solidFill>
                          <a:latin typeface="Calibri"/>
                        </a:rPr>
                        <a:t>0.507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2A33"/>
                          </a:solidFill>
                          <a:latin typeface="Calibri"/>
                        </a:rPr>
                        <a:t>Node2Vec</a:t>
                      </a:r>
                    </a:p>
                  </a:txBody>
                  <a:tcPr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A33"/>
                          </a:solidFill>
                          <a:latin typeface="Calibri"/>
                        </a:rPr>
                        <a:t>0.847</a:t>
                      </a:r>
                    </a:p>
                  </a:txBody>
                  <a:tcPr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E7C86"/>
                          </a:solidFill>
                          <a:latin typeface="Calibri"/>
                        </a:rPr>
                        <a:t>0.907</a:t>
                      </a:r>
                    </a:p>
                  </a:txBody>
                  <a:tcPr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E7C86"/>
                          </a:solidFill>
                          <a:latin typeface="Calibri"/>
                        </a:rPr>
                        <a:t>0.868</a:t>
                      </a:r>
                    </a:p>
                  </a:txBody>
                  <a:tcPr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A33"/>
                          </a:solidFill>
                          <a:latin typeface="Calibri"/>
                        </a:rPr>
                        <a:t>0.507</a:t>
                      </a:r>
                    </a:p>
                  </a:txBody>
                  <a:tcPr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A33"/>
                          </a:solidFill>
                          <a:latin typeface="Calibri"/>
                        </a:rPr>
                        <a:t>0.730</a:t>
                      </a:r>
                    </a:p>
                  </a:txBody>
                  <a:tcPr>
                    <a:solidFill>
                      <a:srgbClr val="EE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2A33"/>
                          </a:solidFill>
                          <a:latin typeface="Calibri"/>
                        </a:rPr>
                        <a:t>GAT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A33"/>
                          </a:solidFill>
                          <a:latin typeface="Calibri"/>
                        </a:rPr>
                        <a:t>0.822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A33"/>
                          </a:solidFill>
                          <a:latin typeface="Calibri"/>
                        </a:rPr>
                        <a:t>0.824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A33"/>
                          </a:solidFill>
                          <a:latin typeface="Calibri"/>
                        </a:rPr>
                        <a:t>0.781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A33"/>
                          </a:solidFill>
                          <a:latin typeface="Calibri"/>
                        </a:rPr>
                        <a:t>0.144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A33"/>
                          </a:solidFill>
                          <a:latin typeface="Calibri"/>
                        </a:rPr>
                        <a:t>0.274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2A33"/>
                          </a:solidFill>
                          <a:latin typeface="Calibri"/>
                        </a:rPr>
                        <a:t>GCN</a:t>
                      </a:r>
                    </a:p>
                  </a:txBody>
                  <a:tcPr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A33"/>
                          </a:solidFill>
                          <a:latin typeface="Calibri"/>
                        </a:rPr>
                        <a:t>0.767</a:t>
                      </a:r>
                    </a:p>
                  </a:txBody>
                  <a:tcPr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A33"/>
                          </a:solidFill>
                          <a:latin typeface="Calibri"/>
                        </a:rPr>
                        <a:t>0.797</a:t>
                      </a:r>
                    </a:p>
                  </a:txBody>
                  <a:tcPr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A33"/>
                          </a:solidFill>
                          <a:latin typeface="Calibri"/>
                        </a:rPr>
                        <a:t>0.743</a:t>
                      </a:r>
                    </a:p>
                  </a:txBody>
                  <a:tcPr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A33"/>
                          </a:solidFill>
                          <a:latin typeface="Calibri"/>
                        </a:rPr>
                        <a:t>0.149</a:t>
                      </a:r>
                    </a:p>
                  </a:txBody>
                  <a:tcPr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A33"/>
                          </a:solidFill>
                          <a:latin typeface="Calibri"/>
                        </a:rPr>
                        <a:t>0.257</a:t>
                      </a:r>
                    </a:p>
                  </a:txBody>
                  <a:tcPr>
                    <a:solidFill>
                      <a:srgbClr val="EE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2A33"/>
                          </a:solidFill>
                          <a:latin typeface="Calibri"/>
                        </a:rPr>
                        <a:t>Pref. Attachment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A33"/>
                          </a:solidFill>
                          <a:latin typeface="Calibri"/>
                        </a:rPr>
                        <a:t>0.603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A33"/>
                          </a:solidFill>
                          <a:latin typeface="Calibri"/>
                        </a:rPr>
                        <a:t>0.656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A33"/>
                          </a:solidFill>
                          <a:latin typeface="Calibri"/>
                        </a:rPr>
                        <a:t>0.666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A33"/>
                          </a:solidFill>
                          <a:latin typeface="Calibri"/>
                        </a:rPr>
                        <a:t>0.090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1A2A33"/>
                          </a:solidFill>
                          <a:latin typeface="Calibri"/>
                        </a:rPr>
                        <a:t>0.149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2A33"/>
                </a:solidFill>
                <a:latin typeface="Cambria"/>
              </a:rPr>
              <a:t>Who wins where — and the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 dirty="0">
                <a:solidFill>
                  <a:srgbClr val="0E7C86"/>
                </a:solidFill>
                <a:latin typeface="Calibri"/>
              </a:rPr>
              <a:t>Each metric has a different winner:</a:t>
            </a:r>
          </a:p>
          <a:p>
            <a:pPr algn="l">
              <a:spcAft>
                <a:spcPts val="800"/>
              </a:spcAft>
            </a:pPr>
            <a:r>
              <a:rPr sz="1700" b="0" dirty="0">
                <a:solidFill>
                  <a:srgbClr val="1A2A33"/>
                </a:solidFill>
                <a:latin typeface="Calibri"/>
              </a:rPr>
              <a:t>•   ROC-AUC (overall separation): Proposed A best (0.873) and beats all neural baselines at p &lt; 0.001.</a:t>
            </a:r>
          </a:p>
          <a:p>
            <a:pPr algn="l">
              <a:spcAft>
                <a:spcPts val="800"/>
              </a:spcAft>
            </a:pPr>
            <a:r>
              <a:rPr sz="1700" b="0" dirty="0">
                <a:solidFill>
                  <a:srgbClr val="1A2A33"/>
                </a:solidFill>
                <a:latin typeface="Calibri"/>
              </a:rPr>
              <a:t>•   PR-AUC &amp; F1: Node2Vec best it ranks dense, easy pairs very well.</a:t>
            </a:r>
          </a:p>
          <a:p>
            <a:pPr algn="l">
              <a:spcAft>
                <a:spcPts val="800"/>
              </a:spcAft>
            </a:pPr>
            <a:r>
              <a:rPr sz="1700" b="0" dirty="0">
                <a:solidFill>
                  <a:srgbClr val="1A2A33"/>
                </a:solidFill>
                <a:latin typeface="Calibri"/>
              </a:rPr>
              <a:t>•   Ranking (MRR, </a:t>
            </a:r>
            <a:r>
              <a:rPr sz="1700" b="0" dirty="0" err="1">
                <a:solidFill>
                  <a:srgbClr val="1A2A33"/>
                </a:solidFill>
                <a:latin typeface="Calibri"/>
              </a:rPr>
              <a:t>Hits@K</a:t>
            </a:r>
            <a:r>
              <a:rPr sz="1700" b="0" dirty="0">
                <a:solidFill>
                  <a:srgbClr val="1A2A33"/>
                </a:solidFill>
                <a:latin typeface="Calibri"/>
              </a:rPr>
              <a:t>): classical Adamic-Adar best it top-ranks easy overlap links.</a:t>
            </a:r>
          </a:p>
          <a:p>
            <a:pPr algn="l">
              <a:spcAft>
                <a:spcPts val="800"/>
              </a:spcAft>
            </a:pPr>
            <a:r>
              <a:rPr sz="1700" b="0" dirty="0">
                <a:solidFill>
                  <a:srgbClr val="1A2A33"/>
                </a:solidFill>
                <a:latin typeface="Calibri"/>
              </a:rPr>
              <a:t>•   Bridge links: only my model and GAT work</a:t>
            </a:r>
            <a:r>
              <a:rPr lang="en-US" sz="1700" b="0" dirty="0">
                <a:solidFill>
                  <a:srgbClr val="1A2A33"/>
                </a:solidFill>
                <a:latin typeface="Calibri"/>
              </a:rPr>
              <a:t>s here and</a:t>
            </a:r>
            <a:r>
              <a:rPr sz="1700" b="0" dirty="0">
                <a:solidFill>
                  <a:srgbClr val="1A2A33"/>
                </a:solidFill>
                <a:latin typeface="Calibri"/>
              </a:rPr>
              <a:t> classical methods are random (0.5).</a:t>
            </a:r>
          </a:p>
          <a:p>
            <a:pPr algn="l">
              <a:spcAft>
                <a:spcPts val="800"/>
              </a:spcAft>
            </a:pPr>
            <a:r>
              <a:rPr sz="1900" b="1" dirty="0">
                <a:solidFill>
                  <a:srgbClr val="0E7C86"/>
                </a:solidFill>
                <a:latin typeface="Calibri"/>
              </a:rPr>
              <a:t>The honest takeaway:</a:t>
            </a:r>
          </a:p>
          <a:p>
            <a:pPr algn="l">
              <a:spcAft>
                <a:spcPts val="800"/>
              </a:spcAft>
            </a:pPr>
            <a:r>
              <a:rPr sz="1700" b="0" dirty="0">
                <a:solidFill>
                  <a:srgbClr val="1A2A33"/>
                </a:solidFill>
                <a:latin typeface="Calibri"/>
              </a:rPr>
              <a:t>•   No single method wins everything. My model gives the best overall balance, plus bridge prediction and interpretability that the others lack.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2A33"/>
                </a:solidFill>
                <a:latin typeface="Cambria"/>
              </a:rPr>
              <a:t>The key finding — bridge links</a:t>
            </a:r>
          </a:p>
        </p:txBody>
      </p:sp>
      <p:pic>
        <p:nvPicPr>
          <p:cNvPr id="3" name="Picture 2" descr="fig3_bridge_vs_stro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74520"/>
            <a:ext cx="7863840" cy="3931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66760" y="173736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E7C86"/>
                </a:solidFill>
                <a:latin typeface="Calibri"/>
              </a:rPr>
              <a:t>On bridge links: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2A33"/>
                </a:solidFill>
                <a:latin typeface="Calibri"/>
              </a:rPr>
              <a:t>•   Classical = 0.5 (random)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2A33"/>
                </a:solidFill>
                <a:latin typeface="Calibri"/>
              </a:rPr>
              <a:t>•   Node2Vec = 0.43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2A33"/>
                </a:solidFill>
                <a:latin typeface="Calibri"/>
              </a:rPr>
              <a:t>•   My model = 0.615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0E7C86"/>
                </a:solidFill>
                <a:latin typeface="Calibri"/>
              </a:rPr>
              <a:t>It captures real signal exactly where the others fail.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2A33"/>
                </a:solidFill>
                <a:latin typeface="Cambria"/>
              </a:rPr>
              <a:t>My model is interpretable</a:t>
            </a:r>
          </a:p>
        </p:txBody>
      </p:sp>
      <p:pic>
        <p:nvPicPr>
          <p:cNvPr id="3" name="Picture 2" descr="fig4_layer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" y="1371600"/>
            <a:ext cx="67056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737360"/>
            <a:ext cx="4297680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dirty="0">
                <a:solidFill>
                  <a:srgbClr val="0E7C86"/>
                </a:solidFill>
                <a:latin typeface="Calibri"/>
              </a:rPr>
              <a:t>The cross-layer attention learns a weight (β) per domain.</a:t>
            </a:r>
          </a:p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1A2A33"/>
                </a:solidFill>
                <a:latin typeface="Calibri"/>
              </a:rPr>
              <a:t>•   So</a:t>
            </a:r>
            <a:r>
              <a:rPr lang="en-US" sz="1500" dirty="0">
                <a:solidFill>
                  <a:srgbClr val="1A2A33"/>
                </a:solidFill>
                <a:latin typeface="Calibri"/>
              </a:rPr>
              <a:t>,</a:t>
            </a:r>
            <a:r>
              <a:rPr sz="1500" b="0" dirty="0">
                <a:solidFill>
                  <a:srgbClr val="1A2A33"/>
                </a:solidFill>
                <a:latin typeface="Calibri"/>
              </a:rPr>
              <a:t> I can show which research domains the model relies on most.</a:t>
            </a:r>
          </a:p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1A2A33"/>
                </a:solidFill>
                <a:latin typeface="Calibri"/>
              </a:rPr>
              <a:t>•   e.g. </a:t>
            </a:r>
            <a:r>
              <a:rPr sz="1500" b="0" dirty="0" err="1">
                <a:solidFill>
                  <a:srgbClr val="1A2A33"/>
                </a:solidFill>
                <a:latin typeface="Calibri"/>
              </a:rPr>
              <a:t>physics.data</a:t>
            </a:r>
            <a:r>
              <a:rPr sz="1500" b="0" dirty="0">
                <a:solidFill>
                  <a:srgbClr val="1A2A33"/>
                </a:solidFill>
                <a:latin typeface="Calibri"/>
              </a:rPr>
              <a:t>-an (0.15) matters most; math-</a:t>
            </a:r>
            <a:r>
              <a:rPr sz="1500" b="0" dirty="0" err="1">
                <a:solidFill>
                  <a:srgbClr val="1A2A33"/>
                </a:solidFill>
                <a:latin typeface="Calibri"/>
              </a:rPr>
              <a:t>ph</a:t>
            </a:r>
            <a:r>
              <a:rPr sz="1500" b="0" dirty="0">
                <a:solidFill>
                  <a:srgbClr val="1A2A33"/>
                </a:solidFill>
                <a:latin typeface="Calibri"/>
              </a:rPr>
              <a:t> (0.04) least.</a:t>
            </a:r>
          </a:p>
          <a:p>
            <a:pPr algn="l">
              <a:spcAft>
                <a:spcPts val="800"/>
              </a:spcAft>
            </a:pPr>
            <a:r>
              <a:rPr sz="1700" b="1" dirty="0">
                <a:solidFill>
                  <a:srgbClr val="0E7C86"/>
                </a:solidFill>
                <a:latin typeface="Calibri"/>
              </a:rPr>
              <a:t>Unlike a black-box GNN, this gives a clear explanation.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2A33"/>
                </a:solidFill>
                <a:latin typeface="Cambria"/>
              </a:rPr>
              <a:t>Honest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 dirty="0">
                <a:solidFill>
                  <a:srgbClr val="0E7C86"/>
                </a:solidFill>
                <a:latin typeface="Calibri"/>
              </a:rPr>
              <a:t>Where others win:</a:t>
            </a:r>
          </a:p>
          <a:p>
            <a:pPr algn="l">
              <a:spcAft>
                <a:spcPts val="800"/>
              </a:spcAft>
            </a:pPr>
            <a:r>
              <a:rPr sz="1700" b="0" dirty="0">
                <a:solidFill>
                  <a:srgbClr val="1A2A33"/>
                </a:solidFill>
                <a:latin typeface="Calibri"/>
              </a:rPr>
              <a:t>•   On overall ROC-AUC I roughly tie the strongest classical methods.</a:t>
            </a:r>
          </a:p>
          <a:p>
            <a:pPr algn="l">
              <a:spcAft>
                <a:spcPts val="800"/>
              </a:spcAft>
            </a:pPr>
            <a:r>
              <a:rPr sz="1700" b="0" dirty="0">
                <a:solidFill>
                  <a:srgbClr val="1A2A33"/>
                </a:solidFill>
                <a:latin typeface="Calibri"/>
              </a:rPr>
              <a:t>•   Node2Vec is better on PR-AUC and F1 (it ranks easy, dense pairs very well).</a:t>
            </a:r>
          </a:p>
          <a:p>
            <a:pPr algn="l">
              <a:spcAft>
                <a:spcPts val="800"/>
              </a:spcAft>
            </a:pPr>
            <a:r>
              <a:rPr sz="1900" b="1" dirty="0">
                <a:solidFill>
                  <a:srgbClr val="0E7C86"/>
                </a:solidFill>
                <a:latin typeface="Calibri"/>
              </a:rPr>
              <a:t>But — those methods collapse on bridges (0.5 or below).</a:t>
            </a:r>
          </a:p>
          <a:p>
            <a:pPr algn="l">
              <a:spcAft>
                <a:spcPts val="800"/>
              </a:spcAft>
            </a:pPr>
            <a:r>
              <a:rPr sz="1900" b="1" dirty="0">
                <a:solidFill>
                  <a:srgbClr val="0E7C86"/>
                </a:solidFill>
                <a:latin typeface="Calibri"/>
              </a:rPr>
              <a:t>So my contribution is:</a:t>
            </a:r>
          </a:p>
          <a:p>
            <a:pPr algn="l">
              <a:spcAft>
                <a:spcPts val="800"/>
              </a:spcAft>
            </a:pPr>
            <a:r>
              <a:rPr sz="1700" b="0" dirty="0">
                <a:solidFill>
                  <a:srgbClr val="1A2A33"/>
                </a:solidFill>
                <a:latin typeface="Calibri"/>
              </a:rPr>
              <a:t>•   Best overall balance + genuine bridge prediction + interpretability + a significant, verified win over the neural baselines.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 I built an attention-based GNN for link prediction in multiplex networks.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 It attends to bridge links, combines all 13 layers, and is interpretable.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 It significantly beats the neural baselines (p &lt; 0.001) and predicts bridges where classical methods are random.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26315" y="5606980"/>
            <a:ext cx="173937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 dirty="0">
                <a:solidFill>
                  <a:srgbClr val="6FC7CF"/>
                </a:solidFill>
                <a:latin typeface="Cambria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2777</Words>
  <Application>Microsoft Office PowerPoint</Application>
  <PresentationFormat>Widescreen</PresentationFormat>
  <Paragraphs>230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UMM-E-FARWA SYEDA 574655</cp:lastModifiedBy>
  <cp:revision>9</cp:revision>
  <dcterms:created xsi:type="dcterms:W3CDTF">2013-01-27T09:14:16Z</dcterms:created>
  <dcterms:modified xsi:type="dcterms:W3CDTF">2026-09-17T21:41:44Z</dcterms:modified>
  <cp:category/>
</cp:coreProperties>
</file>